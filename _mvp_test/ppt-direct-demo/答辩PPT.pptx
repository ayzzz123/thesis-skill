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各位老师好，我是飞行器维修工程技术专业的杨博，我的毕业设计题目是 A320 系列飞机起落架收放系统故障模式分析与维修策略研究。汇报按背景、结构机理、FMEA、维修策略、结论五部分展开，其中分析过程与结果是重点，约 8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汇报分五个部分：研究背景与意义、系统结构与故障机理、关键故障模式识别、维修策略与检查间隔、结论与展望。时间分配上重点在第三、四部分，第一、五部分各约一分钟。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第一部分，为什么做这个题：从航线排故与维修资源配置的痛点切入。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从航线排故痛点切入：起落架在空中放不下，处置余度极小，这是功能不可逆的含义。维修侧的问题是任务凭经验配置，检查频次与故障实际分布脱节，低风险项目检查过频、高风险模式检测不足。约 50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技术路线分四步：先做功能结构分析厘清系统组成，再建立故障树追溯失效原因链，接着用 FMEA 对故障模式做风险排序，最后据此形成维修策略。定性线与定量线以关键故障模式为共同对象，互为验证。约 45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第二部分，分析对象的物理基础：系统功能链与故障树因果结构。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讲清动力—指令—保持—呈现这条功能链，任一环节失效都表现为同一故障现象，这是排故难的结构性原因。系统构型依据通用原理推演，未经机型手册核对，论文中已标注待核实。约 50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发现是六个一阶最小割集：任一基本事件单独发生即导致顶事件，说明系统层面没有冗余保护，维修着力点只能放在降低基本事件概率和提高可检测性上。因无实测失效数据，未做顶事件概率定量计算，这一点主动说明。约 60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第三部分，论文的核心分析：十二种故障模式逐一评分、排序与筛选。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对照论文表3-2节选前六位，评分口径声明不变：演示数据，仅展示分析流程与结果组织方式，不代表真实机队统计，RPN 由脚本独立重算核验。注意 FM06 触点氧化 S=5 但 O=10，低后果高频率，持续消耗排故工时。约 60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再次声明演示数据口径。强调稳健性设计：两条独立分析路径得到一致结论。前 7 项累计占 81.5%，越过 80% 界线。±1 扰动下前四位次序不变，但相邻名次不宜精细解读。约 60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第四部分，把分析结果转化为维修建议：策略配置与检查间隔约束。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策略表节选论文表5-1，对应三条配置原则：严酷度主导，S≥8 必须直接触及物理状态；可检测性补偿，D 值偏高就提高检查频次或引入量化监测；频次经济，O 高 S 低用预防性保养。属框架性建议，不构成对在役机型维修大纲的修改。约 65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核心论点：模型选择直接决定检查周期的松紧，必须依赖故障间隔数据做分布拟合。本文无真实数据，只演示计算路径，不给具体周期数值，实际应用建议采用缩短间隔加状态监控的保守组合。约 55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最后一部分收束：逐条对照研究目标讲结论，并主动说明不足与展望。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结论逐条对应研究目标：功能链模型解释排故难，六个一阶割集说明无冗余，FMEA 加帕累托筛出七项关键模式并与故障树互证，最终形成完整分析链。再次说明：评分与曲线均为方法演示数据，不构成任何在役机型维修方案的修改依据。约 50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主动讲不足是加分项：无真实故障数据、机型资料未闭环、方法未深化，三条展望与三条局限一一对应，显示对问题有清醒认识。约 40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我的汇报到此结束，恳请各位老师批评指正，谢谢。鞠躬，等待提问。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66000"/>
            <a:ext cx="12192119" cy="79200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0000" y="2232000"/>
            <a:ext cx="1152000" cy="64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2448000"/>
            <a:ext cx="10752119" cy="151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3600" b="1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A320 系列飞机起落架收放系统故障模式分析与维修策略研究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176000"/>
            <a:ext cx="10752119" cy="1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999999"/>
                </a:solidFill>
                <a:latin typeface="Calibri"/>
                <a:ea typeface="微软雅黑"/>
                <a:cs typeface="微软雅黑"/>
              </a:rPr>
              <a:t>答辩人：杨博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999999"/>
                </a:solidFill>
                <a:latin typeface="Calibri"/>
                <a:ea typeface="微软雅黑"/>
                <a:cs typeface="微软雅黑"/>
              </a:rPr>
              <a:t>专业：飞行器维修工程技术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999999"/>
                </a:solidFill>
                <a:latin typeface="Calibri"/>
                <a:ea typeface="微软雅黑"/>
                <a:cs typeface="微软雅黑"/>
              </a:rPr>
              <a:t>南京工业职业技术大学　2027-06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503999"/>
            <a:ext cx="2880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600" b="1">
                <a:solidFill>
                  <a:srgbClr val="4A90E2"/>
                </a:solidFill>
                <a:latin typeface="Calibri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368000"/>
            <a:ext cx="10608120" cy="4914000"/>
          </a:xfrm>
          <a:prstGeom prst="rect">
            <a:avLst/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1655999"/>
            <a:ext cx="10032119" cy="433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1　研究背景与意义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2　系统结构与故障机理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3　关键故障模式识别（FMEA）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4　维修策略与检查间隔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5　结论与展望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119" y="6498000"/>
            <a:ext cx="864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alibri"/>
                <a:ea typeface="微软雅黑"/>
                <a:cs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1944000"/>
            <a:ext cx="2160000" cy="1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  <a:ea typeface="微软雅黑"/>
                <a:cs typeface="微软雅黑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456000"/>
            <a:ext cx="10032119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  <a:ea typeface="微软雅黑"/>
                <a:cs typeface="微软雅黑"/>
              </a:rPr>
              <a:t>研究背景与意义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954000"/>
            <a:ext cx="576000" cy="50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324000"/>
            <a:ext cx="1075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999999"/>
                </a:solidFill>
                <a:latin typeface="Calibri"/>
                <a:ea typeface="微软雅黑"/>
                <a:cs typeface="微软雅黑"/>
              </a:rPr>
              <a:t>第一章 绪论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630000"/>
            <a:ext cx="10752119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600" b="1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研究背景与问题提出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1224000"/>
            <a:ext cx="10608120" cy="51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• 收放系统三大特点：工况苛刻、功能不可逆、机电液耦合，排故难度大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• 维修资源错配：低风险项目检查过频，高风险模式检测不足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• 目标：系统化识别关键故障模式，校准维修任务的侧重与周期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498000"/>
            <a:ext cx="864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alibri"/>
                <a:ea typeface="微软雅黑"/>
                <a:cs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324000"/>
            <a:ext cx="1075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999999"/>
                </a:solidFill>
                <a:latin typeface="Calibri"/>
                <a:ea typeface="微软雅黑"/>
                <a:cs typeface="微软雅黑"/>
              </a:rPr>
              <a:t>第一章 绪论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630000"/>
            <a:ext cx="10752119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600" b="1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研究内容与方法链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1030" y="3726000"/>
            <a:ext cx="324000" cy="198000"/>
          </a:xfrm>
          <a:prstGeom prst="rightArrow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92000" y="3501000"/>
            <a:ext cx="2409030" cy="648000"/>
          </a:xfrm>
          <a:prstGeom prst="roundRect">
            <a:avLst/>
          </a:prstGeom>
          <a:solidFill>
            <a:srgbClr val="EAF2FC"/>
          </a:solidFill>
          <a:ln w="9525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/>
          <a:lstStyle/>
          <a:p>
            <a:pPr algn="ctr"/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1  功能结构分析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34060" y="3726000"/>
            <a:ext cx="324000" cy="198000"/>
          </a:xfrm>
          <a:prstGeom prst="rightArrow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25030" y="3501000"/>
            <a:ext cx="2409030" cy="648000"/>
          </a:xfrm>
          <a:prstGeom prst="roundRect">
            <a:avLst/>
          </a:prstGeom>
          <a:solidFill>
            <a:srgbClr val="EAF2FC"/>
          </a:solidFill>
          <a:ln w="9525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/>
          <a:lstStyle/>
          <a:p>
            <a:pPr algn="ctr"/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2  故障树建模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667090" y="3726000"/>
            <a:ext cx="324000" cy="198000"/>
          </a:xfrm>
          <a:prstGeom prst="rightArrow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58060" y="3501000"/>
            <a:ext cx="2409030" cy="648000"/>
          </a:xfrm>
          <a:prstGeom prst="roundRect">
            <a:avLst/>
          </a:prstGeom>
          <a:solidFill>
            <a:srgbClr val="EAF2FC"/>
          </a:solidFill>
          <a:ln w="9525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/>
          <a:lstStyle/>
          <a:p>
            <a:pPr algn="ctr"/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3  FMEA 排序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1090" y="3501000"/>
            <a:ext cx="2409030" cy="648000"/>
          </a:xfrm>
          <a:prstGeom prst="roundRect">
            <a:avLst/>
          </a:prstGeom>
          <a:solidFill>
            <a:srgbClr val="EAF2FC"/>
          </a:solidFill>
          <a:ln w="9525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/>
          <a:lstStyle/>
          <a:p>
            <a:pPr algn="ctr"/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4  维修策略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12119" y="6498000"/>
            <a:ext cx="864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alibri"/>
                <a:ea typeface="微软雅黑"/>
                <a:cs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1944000"/>
            <a:ext cx="2160000" cy="1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  <a:ea typeface="微软雅黑"/>
                <a:cs typeface="微软雅黑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456000"/>
            <a:ext cx="10032119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  <a:ea typeface="微软雅黑"/>
                <a:cs typeface="微软雅黑"/>
              </a:rPr>
              <a:t>系统结构与故障机理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86000"/>
            <a:ext cx="10752119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600" b="1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系统组成与功能链</a:t>
            </a:r>
          </a:p>
        </p:txBody>
      </p:sp>
      <p:pic>
        <p:nvPicPr>
          <p:cNvPr id="4" name="Picture 3" descr="fig3-system-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224000"/>
            <a:ext cx="5091897" cy="38554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2000" y="5903999"/>
            <a:ext cx="5091897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999999"/>
                </a:solidFill>
                <a:latin typeface="Calibri"/>
                <a:ea typeface="微软雅黑"/>
                <a:cs typeface="微软雅黑"/>
              </a:rPr>
              <a:t>图 系统功能组成（典型构型·待核实）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8222" y="1224000"/>
            <a:ext cx="5516222" cy="51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• 四子系统：液压（动力）/ 控制（指令）/ 锁止（保持）/ 指示（呈现）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• 单向串联：任一环节失效表现为同一故障现象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• 按四级层次归纳 12 条候选故障模式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498000"/>
            <a:ext cx="864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alibri"/>
                <a:ea typeface="微软雅黑"/>
                <a:cs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86000"/>
            <a:ext cx="10752119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600" b="1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故障树分析：起落架无法放下</a:t>
            </a:r>
          </a:p>
        </p:txBody>
      </p:sp>
      <p:pic>
        <p:nvPicPr>
          <p:cNvPr id="4" name="Picture 3" descr="fig2-f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222" y="1224000"/>
            <a:ext cx="5091897" cy="22519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8222" y="5903999"/>
            <a:ext cx="5091897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999999"/>
                </a:solidFill>
                <a:latin typeface="Calibri"/>
                <a:ea typeface="微软雅黑"/>
                <a:cs typeface="微软雅黑"/>
              </a:rPr>
              <a:t>图 故障树（演示级·定性结构）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1224000"/>
            <a:ext cx="5516222" cy="51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• 顶事件：起落架无法放下，全或门结构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• 六个一阶最小割集，系统层面无冗余保护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• 维修着力点：降低基本事件概率 + 提高可检测性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498000"/>
            <a:ext cx="864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alibri"/>
                <a:ea typeface="微软雅黑"/>
                <a:cs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1944000"/>
            <a:ext cx="2160000" cy="1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  <a:ea typeface="微软雅黑"/>
                <a:cs typeface="微软雅黑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456000"/>
            <a:ext cx="10032119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  <a:ea typeface="微软雅黑"/>
                <a:cs typeface="微软雅黑"/>
              </a:rPr>
              <a:t>关键故障模式识别（FMEA）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324000"/>
            <a:ext cx="1075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999999"/>
                </a:solidFill>
                <a:latin typeface="Calibri"/>
                <a:ea typeface="微软雅黑"/>
                <a:cs typeface="微软雅黑"/>
              </a:rPr>
              <a:t>第三章 · 表3-2 节选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630000"/>
            <a:ext cx="10752119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600" b="1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FMEA 评分与 RPN 排序（节选）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92000" y="1224000"/>
          <a:ext cx="10608118" cy="51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9888"/>
                <a:gridCol w="4448566"/>
                <a:gridCol w="1026592"/>
                <a:gridCol w="1026592"/>
                <a:gridCol w="1026592"/>
                <a:gridCol w="1539888"/>
              </a:tblGrid>
              <a:tr h="73285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marL="54000" marR="54000" marT="18000" marB="18000" anchor="ctr"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  <a:cs typeface="微软雅黑"/>
                        </a:rPr>
                        <a:t>故障模式</a:t>
                      </a:r>
                    </a:p>
                  </a:txBody>
                  <a:tcPr marL="54000" marR="54000" marT="18000" marB="18000" anchor="ctr"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  <a:cs typeface="微软雅黑"/>
                        </a:rPr>
                        <a:t>S</a:t>
                      </a:r>
                    </a:p>
                  </a:txBody>
                  <a:tcPr marL="54000" marR="54000" marT="18000" marB="18000" anchor="ctr"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  <a:cs typeface="微软雅黑"/>
                        </a:rPr>
                        <a:t>O</a:t>
                      </a:r>
                    </a:p>
                  </a:txBody>
                  <a:tcPr marL="54000" marR="54000" marT="18000" marB="18000" anchor="ctr"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  <a:cs typeface="微软雅黑"/>
                        </a:rPr>
                        <a:t>D</a:t>
                      </a:r>
                    </a:p>
                  </a:txBody>
                  <a:tcPr marL="54000" marR="54000" marT="18000" marB="18000" anchor="ctr"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  <a:cs typeface="微软雅黑"/>
                        </a:rPr>
                        <a:t>RPN</a:t>
                      </a:r>
                    </a:p>
                  </a:txBody>
                  <a:tcPr marL="54000" marR="54000" marT="18000" marB="18000" anchor="ctr">
                    <a:solidFill>
                      <a:srgbClr val="4A90E2"/>
                    </a:solidFill>
                  </a:tcPr>
                </a:tc>
              </a:tr>
              <a:tr h="73285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FM04</a:t>
                      </a:r>
                    </a:p>
                  </a:txBody>
                  <a:tcPr marL="54000" marR="54000" marT="18000" marB="18000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收放作动筒内漏</a:t>
                      </a:r>
                    </a:p>
                  </a:txBody>
                  <a:tcPr marL="54000" marR="54000" marT="18000" marB="18000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marL="54000" marR="54000" marT="18000" marB="18000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54000" marR="54000" marT="18000" marB="18000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54000" marR="54000" marT="18000" marB="18000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216</a:t>
                      </a:r>
                    </a:p>
                  </a:txBody>
                  <a:tcPr marL="54000" marR="54000" marT="18000" marB="18000" anchor="ctr">
                    <a:solidFill>
                      <a:srgbClr val="EAF2FC"/>
                    </a:solidFill>
                  </a:tcPr>
                </a:tc>
              </a:tr>
              <a:tr h="73285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FM01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液压泵磨损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192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</a:tr>
              <a:tr h="73285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FM10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上位锁钩磨损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168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73285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FM06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收放手柄触点氧化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150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</a:tr>
              <a:tr h="73285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FM02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管路接头渗漏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126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73285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FM07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位置传感器漂移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108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112119" y="6498000"/>
            <a:ext cx="864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alibri"/>
                <a:ea typeface="微软雅黑"/>
                <a:cs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86000"/>
            <a:ext cx="10752119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600" b="1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帕累托筛选：关键少数</a:t>
            </a:r>
          </a:p>
        </p:txBody>
      </p:sp>
      <p:pic>
        <p:nvPicPr>
          <p:cNvPr id="4" name="Picture 3" descr="fig5-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224000"/>
            <a:ext cx="5091897" cy="30379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2000" y="5903999"/>
            <a:ext cx="5091897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999999"/>
                </a:solidFill>
                <a:latin typeface="Calibri"/>
                <a:ea typeface="微软雅黑"/>
                <a:cs typeface="微软雅黑"/>
              </a:rPr>
              <a:t>图 RPN 帕累托分析（演示数据·仅演示方法）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8222" y="1224000"/>
            <a:ext cx="5516222" cy="51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• 12 条模式 RPN 合计 1295，前 7 项累计占 81.5%，越 80% 界线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• 关键集合中液压与锁止类占 5 项，与故障树割集结构一致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• FMEA 排序与 FTA 因果分解互为验证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498000"/>
            <a:ext cx="864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alibri"/>
                <a:ea typeface="微软雅黑"/>
                <a:cs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1944000"/>
            <a:ext cx="2160000" cy="1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  <a:ea typeface="微软雅黑"/>
                <a:cs typeface="微软雅黑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456000"/>
            <a:ext cx="10032119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  <a:ea typeface="微软雅黑"/>
                <a:cs typeface="微软雅黑"/>
              </a:rPr>
              <a:t>维修策略与检查间隔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324000"/>
            <a:ext cx="1075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999999"/>
                </a:solidFill>
                <a:latin typeface="Calibri"/>
                <a:ea typeface="微软雅黑"/>
                <a:cs typeface="微软雅黑"/>
              </a:rPr>
              <a:t>第五章 · 表5-1 节选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630000"/>
            <a:ext cx="10752119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600" b="1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关键故障模式维修策略（节选）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92000" y="1224000"/>
          <a:ext cx="10608119" cy="51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4623"/>
                <a:gridCol w="3471748"/>
                <a:gridCol w="3471748"/>
              </a:tblGrid>
              <a:tr h="73285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  <a:cs typeface="微软雅黑"/>
                        </a:rPr>
                        <a:t>关键模式</a:t>
                      </a:r>
                    </a:p>
                  </a:txBody>
                  <a:tcPr marL="54000" marR="54000" marT="18000" marB="18000" anchor="ctr"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  <a:cs typeface="微软雅黑"/>
                        </a:rPr>
                        <a:t>策略类型</a:t>
                      </a:r>
                    </a:p>
                  </a:txBody>
                  <a:tcPr marL="54000" marR="54000" marT="18000" marB="18000" anchor="ctr"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  <a:cs typeface="微软雅黑"/>
                        </a:rPr>
                        <a:t>检查侧重点</a:t>
                      </a:r>
                    </a:p>
                  </a:txBody>
                  <a:tcPr marL="54000" marR="54000" marT="18000" marB="18000" anchor="ctr">
                    <a:solidFill>
                      <a:srgbClr val="4A90E2"/>
                    </a:solidFill>
                  </a:tcPr>
                </a:tc>
              </a:tr>
              <a:tr h="73285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FM04 收放作动筒内漏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定期检查 + 状态监控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渗漏痕迹、收放时间观测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73285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FM10 上位锁钩磨损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定期维修（详细检查）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磨损量测量、配合间隙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</a:tr>
              <a:tr h="73285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FM06 手柄触点氧化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定期维修（清洁保养）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接触电阻测量、周期保养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73285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FM02 管路接头渗漏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定期检查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渗漏判据量化、力矩复核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</a:tr>
              <a:tr h="73285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FM07 位置传感器漂移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功能检查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传感器对中、指示一致性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73285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FM11 锁作动器卡滞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定期润滑与操作检查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  <a:ea typeface="微软雅黑"/>
                          <a:cs typeface="微软雅黑"/>
                        </a:rPr>
                        <a:t>污染物清除、灵活性确认</a:t>
                      </a:r>
                    </a:p>
                  </a:txBody>
                  <a:tcPr marL="54000" marR="54000" marT="18000" marB="180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112119" y="6498000"/>
            <a:ext cx="864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alibri"/>
                <a:ea typeface="微软雅黑"/>
                <a:cs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486000"/>
            <a:ext cx="10752119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600" b="1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可靠度目标对检查间隔的约束</a:t>
            </a:r>
          </a:p>
        </p:txBody>
      </p:sp>
      <p:pic>
        <p:nvPicPr>
          <p:cNvPr id="4" name="Picture 3" descr="fig4-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222" y="1224000"/>
            <a:ext cx="5091897" cy="30379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8222" y="5903999"/>
            <a:ext cx="5091897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999999"/>
                </a:solidFill>
                <a:latin typeface="Calibri"/>
                <a:ea typeface="微软雅黑"/>
                <a:cs typeface="微软雅黑"/>
              </a:rPr>
              <a:t>图 可靠度衰减与间隔约束（演示参数）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1224000"/>
            <a:ext cx="5516222" cy="51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• 指数模型对应随机故障，威布尔 β&gt;1 对应磨损老化主导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• R=0.9 演示参数：允许间隔 190h 与 446h，相差约 2.4 倍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• 无故障间隔数据时采用缩短间隔 + 状态监控的保守组合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498000"/>
            <a:ext cx="864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alibri"/>
                <a:ea typeface="微软雅黑"/>
                <a:cs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1944000"/>
            <a:ext cx="2160000" cy="1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  <a:ea typeface="微软雅黑"/>
                <a:cs typeface="微软雅黑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456000"/>
            <a:ext cx="10032119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  <a:ea typeface="微软雅黑"/>
                <a:cs typeface="微软雅黑"/>
              </a:rPr>
              <a:t>结论与展望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954000"/>
            <a:ext cx="576000" cy="50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324000"/>
            <a:ext cx="1075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999999"/>
                </a:solidFill>
                <a:latin typeface="Calibri"/>
                <a:ea typeface="微软雅黑"/>
                <a:cs typeface="微软雅黑"/>
              </a:rPr>
              <a:t>第六章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630000"/>
            <a:ext cx="10752119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600" b="1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主要结论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1224000"/>
            <a:ext cx="10608120" cy="51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• 四子系统功能链模型解释了收放系统排故难的结构性原因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• 故障树六个一阶割集表明系统无冗余，只能降概率、提检测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• FMEA + 帕累托筛出 7 项关键模式，与故障树结果互证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• 形成 FMEA + 帕累托 + 故障树校核 + 可靠度周期的完整分析链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498000"/>
            <a:ext cx="864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alibri"/>
                <a:ea typeface="微软雅黑"/>
                <a:cs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954000"/>
            <a:ext cx="576000" cy="50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324000"/>
            <a:ext cx="1075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999999"/>
                </a:solidFill>
                <a:latin typeface="Calibri"/>
                <a:ea typeface="微软雅黑"/>
                <a:cs typeface="微软雅黑"/>
              </a:rPr>
              <a:t>第六章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630000"/>
            <a:ext cx="10752119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600" b="1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不足与展望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1224000"/>
            <a:ext cx="10608120" cy="51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• 局限：无真实故障数据、机型资料未闭环、方法未深化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• 展望一：取得机队数据后重做发生度评定与分布拟合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• 展望二：FTA 定量分析与重要度排序，与 FMEA 交叉验证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  <a:cs typeface="微软雅黑"/>
              </a:rPr>
              <a:t>• 展望三：可用度与安全约束下的维修成本优化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498000"/>
            <a:ext cx="864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alibri"/>
                <a:ea typeface="微软雅黑"/>
                <a:cs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2592000"/>
            <a:ext cx="10032119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  <a:ea typeface="微软雅黑"/>
                <a:cs typeface="微软雅黑"/>
              </a:rPr>
              <a:t>恳请各位老师批评指正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960000"/>
            <a:ext cx="10032119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  <a:ea typeface="微软雅黑"/>
                <a:cs typeface="微软雅黑"/>
              </a:rPr>
              <a:t>谢谢聆听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